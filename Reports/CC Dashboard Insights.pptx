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15AF-E18A-A48D-EECD-AB03D6779B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AD5153-8EEC-D10A-8313-F6A889D21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7DB15-BEE2-139E-5C57-7D2A17A01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4A748-3C7C-92E9-967E-FCAF062D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C877E-DEEE-3195-555C-138DFA66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081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512CD-6D69-2AB1-BBD1-084788403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C6C8B-8E03-C43C-166E-DC07E2B94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36F1D-E25A-09AE-C8F1-EA1A441B6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1E291-8D68-F371-797A-274BB1D6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0372D-1792-FB12-CD5C-EABF6329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394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2D496-55AC-11F1-4D06-91834BAEA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FCD0C-6323-9E42-CC92-B9D073D04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44BC9-E90C-8BA8-F13F-73ECF961C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55D6F-3E9C-2039-EB2E-AB1FAA662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75F174-239F-2B4A-FA43-9DE277577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06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45D89-3527-8C08-34C4-BD28D93C0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0F80C-C65D-2B87-D58A-D7CBFD3262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AB1F9-66AB-436F-E9C5-07AB078F17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61D873-ABB2-46BA-DBCE-32C6F568D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BB006-8DAC-C6C3-8E2E-C81FE83B6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18BC0-5E08-325C-4986-F7BC128F2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5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8A174-CC08-5487-D64F-15805D827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C29D9-9BED-B06C-603F-9BA3E86306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86A5F7-B6A4-2B9A-9140-A2C5ADE945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B78412-C252-E54E-8710-5C1D9C2872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393635-FEE5-0BE2-AA28-38314750CD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C086CB-0107-74EB-60E7-CFB455E62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5D70F2-8AD9-D166-6F2F-EE741FF74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C4FF5-550A-640B-3960-A6EB5E4B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949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8A672-7C16-BC78-4A58-08C7BF660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32AB30-92F8-0192-EAB1-02E2D5821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EE2D0C-3A81-7423-DB92-62E0085EF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136DBD-52C9-05AE-2B17-955A34A10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82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527504-506B-85A8-D495-CFB7BB108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AE4D4E-FCF8-8A7A-9B2A-B6A8CE88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A6DAA-1A73-29DD-FF69-48B547089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295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9D716-9CB1-4F79-9821-FCAC434A9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B52C9-0EBA-B34D-1DAE-10FA63EB9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2CCB6-0A02-FB97-981B-0E0F43EDF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8D728-70D0-0AAE-EDDB-9EACC842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F9E41-A468-2314-C46B-137C645EBA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35D4B1-A4BE-BC77-E506-14218283A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471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AD786-D926-74E9-B74B-E8691C618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8845B7-66E7-C39F-91C6-3AD456688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718804-5742-5185-0A55-DD2238CB0A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142493-29F7-088A-FC7E-C6CBF998B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068A3-EA9F-87B6-76E3-AE1E7A427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5C8410-8879-4C7B-6408-93487DD15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0619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6FEC6-F509-3669-ADF0-7D7752601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D2144E-0D1E-FAE7-8523-B5614064D0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6DE95-122C-349F-4ECF-8FE243AB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500F2-FA5A-2B2F-E04F-96B357A64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29CB33-0113-0A97-109C-23E498E2F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87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E2CF5A-56EF-1325-3616-B3B919823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968307-31DF-E751-9CC0-194382F9C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69726-3BE6-0493-715D-FE9FD8982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793293-0216-9960-C9FB-D581F48F2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E5EA5-B024-F7EC-4F3D-C5A368D84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80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746CD1-45E0-A55C-57B4-55C07254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2E9B9F-FEB9-3F07-B95D-D51038EB9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2064DF-BB6A-ECDC-9715-73D0AAB4B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E490F7-B80D-428F-B1A3-50482B72E1D5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1DF0A1-A726-4D7E-A004-F0D01A5EEA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F58D9-66EC-37AD-59B3-3077B9C03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C83962-6E78-4872-929F-7EE2A596A5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486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CD5748-01DD-46DB-F117-6ECF2E234749}"/>
              </a:ext>
            </a:extLst>
          </p:cNvPr>
          <p:cNvSpPr txBox="1"/>
          <p:nvPr/>
        </p:nvSpPr>
        <p:spPr>
          <a:xfrm>
            <a:off x="1815830" y="233464"/>
            <a:ext cx="8560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C000"/>
                </a:solidFill>
              </a:rPr>
              <a:t>Project Insights – Week 53 (31</a:t>
            </a:r>
            <a:r>
              <a:rPr lang="en-US" sz="4000" b="1" baseline="30000" dirty="0">
                <a:solidFill>
                  <a:srgbClr val="FFC000"/>
                </a:solidFill>
              </a:rPr>
              <a:t>st</a:t>
            </a:r>
            <a:r>
              <a:rPr lang="en-US" sz="4000" b="1" dirty="0">
                <a:solidFill>
                  <a:srgbClr val="FFC000"/>
                </a:solidFill>
              </a:rPr>
              <a:t> Dec)</a:t>
            </a:r>
            <a:endParaRPr lang="en-IN" sz="4000" b="1" dirty="0">
              <a:solidFill>
                <a:srgbClr val="FFC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20D5C-91CE-DBCD-5B4B-12F382B6ECFD}"/>
              </a:ext>
            </a:extLst>
          </p:cNvPr>
          <p:cNvSpPr txBox="1"/>
          <p:nvPr/>
        </p:nvSpPr>
        <p:spPr>
          <a:xfrm>
            <a:off x="1887165" y="1096728"/>
            <a:ext cx="88327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Overview YTD: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Overall revenue is 57M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Total interest is 8M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Total transaction amount is 46M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Male customers are contributing more in revenue 31M, female 26M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Blue &amp; Silver credit card are contributing  to 93% of overall transactions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TX, NY &amp; CA is contributing to 68%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Overall Activation rate is 57.5%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chemeClr val="bg1"/>
                </a:solidFill>
              </a:rPr>
              <a:t>Overall Delinquent rate is 6.06%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5ABBBB-2DC1-5D27-C99A-B0502BA69A99}"/>
              </a:ext>
            </a:extLst>
          </p:cNvPr>
          <p:cNvSpPr txBox="1"/>
          <p:nvPr/>
        </p:nvSpPr>
        <p:spPr>
          <a:xfrm>
            <a:off x="1887165" y="4006946"/>
            <a:ext cx="88327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IN" sz="1400" dirty="0"/>
              <a:t>Strategic Recommendations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/>
              <a:t>Target the Mid-Life Professional Segment: Marketing budgets should aggressively target individuals aged 40–60 who work as Businessmen or White-collar professionals, as they possess the highest transaction velocities and interest yields.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/>
              <a:t>Revamp Premium Card Offers: Since Platinum and Gold cards contribute under 7% of total revenue combined, consider auditing their reward incentives to capture higher-net-worth spenders. </a:t>
            </a:r>
          </a:p>
          <a:p>
            <a:pPr marL="228600" indent="-228600">
              <a:buFont typeface="+mj-lt"/>
              <a:buAutoNum type="arabicPeriod"/>
            </a:pPr>
            <a:r>
              <a:rPr lang="en-IN" sz="1400" dirty="0"/>
              <a:t>Address Low CSAT: A satisfaction score of 3.19 is a warning indicator. The business should look into optimizing the dispute/resolution pathway, particularly on routine household charges like Bills and Groceries, which comprise the bulk of customer touchpoints. 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346768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179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ACHYUT BHARDWAZ</dc:creator>
  <cp:lastModifiedBy>ACHYUT BHARDWAZ</cp:lastModifiedBy>
  <cp:revision>2</cp:revision>
  <dcterms:created xsi:type="dcterms:W3CDTF">2026-06-19T15:41:03Z</dcterms:created>
  <dcterms:modified xsi:type="dcterms:W3CDTF">2026-06-19T15:56:49Z</dcterms:modified>
</cp:coreProperties>
</file>